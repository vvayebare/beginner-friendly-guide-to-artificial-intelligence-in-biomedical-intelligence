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511105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89794"/>
            <a:ext cx="5715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375594"/>
            <a:ext cx="10101262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sz="6000" b="1" i="0" u="none">
                <a:solidFill>
                  <a:srgbClr val="F8FAFC"/>
                </a:solidFill>
                <a:latin typeface="Poppins"/>
              </a:rPr>
              <a:t>Demystifying AI &amp;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280594"/>
            <a:ext cx="9525000" cy="373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94A3B8"/>
                </a:solidFill>
                <a:latin typeface="Poppins"/>
              </a:rPr>
              <a:t>How machines actually learn (and why it isn't magic).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3100" y="1751707"/>
            <a:ext cx="378618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366F1"/>
                </a:solidFill>
                <a:latin typeface="Poppins"/>
              </a:rPr>
              <a:t>BOOTCAMP LECTURE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0230"/>
            <a:ext cx="518160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244280"/>
            <a:ext cx="5181600" cy="1695450"/>
          </a:xfrm>
          <a:prstGeom prst="roundRect">
            <a:avLst>
              <a:gd name="adj" fmla="val 89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320230"/>
            <a:ext cx="76200" cy="16954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244280"/>
            <a:ext cx="76200" cy="16954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918269"/>
            <a:ext cx="5540692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0F172A"/>
                </a:solidFill>
                <a:latin typeface="Poppins"/>
              </a:rPr>
              <a:t>The Big Picture:</a:t>
            </a:r>
            <a:r>
              <a:t>
</a:t>
            </a:r>
            <a:r>
              <a:rPr sz="3600" b="1" i="0" u="none">
                <a:solidFill>
                  <a:srgbClr val="0F172A"/>
                </a:solidFill>
                <a:latin typeface="Poppins"/>
              </a:rPr>
              <a:t> AI vs.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625030"/>
            <a:ext cx="48206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oppins"/>
              </a:rPr>
              <a:t>Artificial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139380"/>
            <a:ext cx="45910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oppins"/>
              </a:rPr>
              <a:t>The ultimate goal. Machines mimicking human logic and decision-making.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549080"/>
            <a:ext cx="48206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oppins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5063430"/>
            <a:ext cx="45910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Poppins"/>
              </a:rPr>
              <a:t>The actual engine. Algorithms learning patterns directly from data.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E596335-DD1C-C72A-13BD-F539FE763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917" y="1116871"/>
            <a:ext cx="6103883" cy="43307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86475" y="1905000"/>
            <a:ext cx="19050" cy="4343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7" y="1905000"/>
            <a:ext cx="1143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562" y="1905000"/>
            <a:ext cx="1143000" cy="114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575" y="2209800"/>
            <a:ext cx="466725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5362" y="2209800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157662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719637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281612"/>
            <a:ext cx="2000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25" y="4157662"/>
            <a:ext cx="20002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25" y="4719637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5125" y="5281612"/>
            <a:ext cx="1714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-47625" y="609600"/>
            <a:ext cx="12287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Poppins"/>
              </a:rPr>
              <a:t>How Do We Learn?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4721" y="3352800"/>
            <a:ext cx="34504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Poppins"/>
              </a:rPr>
              <a:t>Human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8082" y="3352800"/>
            <a:ext cx="3687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Poppins"/>
              </a:rPr>
              <a:t>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5425" y="4114800"/>
            <a:ext cx="5064918" cy="3333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Poppins"/>
              </a:rPr>
              <a:t>Read books and theories.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5425" y="4676775"/>
            <a:ext cx="5064918" cy="3333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Poppins"/>
              </a:rPr>
              <a:t>Take written exams.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5425" y="5238750"/>
            <a:ext cx="5064918" cy="3333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Poppins"/>
              </a:rPr>
              <a:t>Learn from past mistakes.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7550" y="4114800"/>
            <a:ext cx="5064918" cy="3333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Poppins"/>
              </a:rPr>
              <a:t>Ingest massive datasets.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6125" y="4676775"/>
            <a:ext cx="5036343" cy="3333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Poppins"/>
              </a:rPr>
              <a:t>Find statistical patterns.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8975" y="5238750"/>
            <a:ext cx="5093493" cy="3333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Poppins"/>
              </a:rPr>
              <a:t>Update mathematical weights.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57250" y="3086100"/>
            <a:ext cx="328925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51300" y="3086100"/>
            <a:ext cx="328925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45350" y="3086100"/>
            <a:ext cx="328925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050" y="3543300"/>
            <a:ext cx="5715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51" y="35433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151" y="3543300"/>
            <a:ext cx="5715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58082" y="1104900"/>
            <a:ext cx="6675834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oppins"/>
              </a:rPr>
              <a:t>The 3 Flavors of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8406" y="2143125"/>
            <a:ext cx="721518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E0E7FF"/>
                </a:solidFill>
                <a:latin typeface="Poppins"/>
              </a:rPr>
              <a:t>How we train machines dictates what they can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354" y="4229100"/>
            <a:ext cx="351704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Poppins"/>
              </a:rPr>
              <a:t>Supervised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093" y="4781550"/>
            <a:ext cx="33495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oppins"/>
              </a:rPr>
              <a:t>Learning with a teacher and an answer key.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7405" y="4229100"/>
            <a:ext cx="351704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Poppins"/>
              </a:rPr>
              <a:t>Unsupervised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1144" y="4781550"/>
            <a:ext cx="33495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oppins"/>
              </a:rPr>
              <a:t>Discovering hidden patterns independently.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1455" y="4229100"/>
            <a:ext cx="351704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Poppins"/>
              </a:rPr>
              <a:t>Reinforcement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5194" y="4781550"/>
            <a:ext cx="33495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oppins"/>
              </a:rPr>
              <a:t>Learning through trial, error, and rewards.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0" y="899219"/>
            <a:ext cx="1114425" cy="390525"/>
          </a:xfrm>
          <a:prstGeom prst="roundRect">
            <a:avLst>
              <a:gd name="adj" fmla="val 1951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3200" y="975419"/>
            <a:ext cx="9048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366F1"/>
                </a:solidFill>
                <a:latin typeface="Poppins"/>
              </a:rPr>
              <a:t>FLAVOR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18344"/>
            <a:ext cx="554069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0305"/>
            <a:ext cx="57912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75569"/>
                </a:solidFill>
                <a:latin typeface="Poppins"/>
              </a:rPr>
              <a:t>The machine gets the answers upfront.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06116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oppins"/>
              </a:rPr>
              <a:t>Labeled Data:</a:t>
            </a:r>
            <a:r>
              <a:rPr sz="1500" b="0" i="0" u="none" dirty="0">
                <a:solidFill>
                  <a:srgbClr val="0F172A"/>
                </a:solidFill>
                <a:latin typeface="Poppins"/>
              </a:rPr>
              <a:t> Every input picture has a known output label (e.g., "Cat" or "Dog").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99647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oppins"/>
              </a:rPr>
              <a:t>Training Phase:</a:t>
            </a:r>
            <a:r>
              <a:rPr sz="1500" b="0" i="0" u="none" dirty="0">
                <a:solidFill>
                  <a:srgbClr val="0F172A"/>
                </a:solidFill>
                <a:latin typeface="Poppins"/>
              </a:rPr>
              <a:t> The model memorizes features corresponding to each label.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493178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oppins"/>
              </a:rPr>
              <a:t>Ultimate Goal:</a:t>
            </a:r>
            <a:r>
              <a:rPr sz="1500" b="0" i="0" u="none" dirty="0">
                <a:solidFill>
                  <a:srgbClr val="0F172A"/>
                </a:solidFill>
                <a:latin typeface="Poppins"/>
              </a:rPr>
              <a:t> Accurately predict labels for entirely new, unseen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2159" y="2482155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508692-3425-E55D-68C3-6035B426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91" y="1518344"/>
            <a:ext cx="5996809" cy="4628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2409825"/>
            <a:ext cx="4762500" cy="36576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409825"/>
            <a:ext cx="4762500" cy="36576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2886075"/>
            <a:ext cx="51435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28860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0" y="4810125"/>
            <a:ext cx="17145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0" y="5219700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0" y="4810125"/>
            <a:ext cx="1905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0" y="5219700"/>
            <a:ext cx="104775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47625" y="609600"/>
            <a:ext cx="12287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Poppins"/>
              </a:rPr>
              <a:t>Supervised Learning in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47625" y="1333500"/>
            <a:ext cx="12287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oppins"/>
              </a:rPr>
              <a:t>Two main types of supervised problems.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571875"/>
            <a:ext cx="4100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9250" y="4181475"/>
            <a:ext cx="3905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Poppins"/>
              </a:rPr>
              <a:t>Is it A or B? (Categorical)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3571875"/>
            <a:ext cx="41005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4181475"/>
            <a:ext cx="3905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Poppins"/>
              </a:rPr>
              <a:t>How much? (Continuous Numbers)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4772025"/>
            <a:ext cx="361950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oppins"/>
              </a:rPr>
              <a:t>Spam vs. Not Spam email.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5181600"/>
            <a:ext cx="361950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oppins"/>
              </a:rPr>
              <a:t>Benign vs. Malignant tumor.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7550" y="4772025"/>
            <a:ext cx="36004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oppins"/>
              </a:rPr>
              <a:t>Predicting house prices.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1825" y="5181600"/>
            <a:ext cx="3686175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 i="0" u="none">
                <a:solidFill>
                  <a:srgbClr val="0F172A"/>
                </a:solidFill>
                <a:latin typeface="Poppins"/>
              </a:rPr>
              <a:t>Forecasting tomorrow's temperature.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899219"/>
            <a:ext cx="1152525" cy="390525"/>
          </a:xfrm>
          <a:prstGeom prst="roundRect">
            <a:avLst>
              <a:gd name="adj" fmla="val 1951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975419"/>
            <a:ext cx="9429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oppins"/>
              </a:rPr>
              <a:t>FLAVOR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518344"/>
            <a:ext cx="554069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20305"/>
            <a:ext cx="64770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75569"/>
                </a:solidFill>
                <a:latin typeface="Poppins"/>
              </a:rPr>
              <a:t>The machine explores without a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96580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oppins"/>
              </a:rPr>
              <a:t>Unlabeled Data:</a:t>
            </a:r>
            <a:r>
              <a:rPr sz="1500" b="0" i="0" u="none" dirty="0">
                <a:solidFill>
                  <a:srgbClr val="0F172A"/>
                </a:solidFill>
                <a:latin typeface="Poppins"/>
              </a:rPr>
              <a:t> A chaotic mess of data with absolutely no correct answers provided.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465290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oppins"/>
              </a:rPr>
              <a:t>Discovery Phase:</a:t>
            </a:r>
            <a:r>
              <a:rPr sz="1500" b="0" i="0" u="none" dirty="0">
                <a:solidFill>
                  <a:srgbClr val="0F172A"/>
                </a:solidFill>
                <a:latin typeface="Poppins"/>
              </a:rPr>
              <a:t> Algorithm groups data points based on underlying similarities.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405453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oppins"/>
              </a:rPr>
              <a:t>Ultimate Goal:</a:t>
            </a:r>
            <a:r>
              <a:rPr sz="1500" b="0" i="0" u="none" dirty="0">
                <a:solidFill>
                  <a:srgbClr val="0F172A"/>
                </a:solidFill>
                <a:latin typeface="Poppins"/>
              </a:rPr>
              <a:t> Find hidden structures, segments, and meaningful clusters.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49902A-E381-8B09-D52A-64BC0287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0" y="1518344"/>
            <a:ext cx="6305550" cy="4445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32250" y="2381250"/>
            <a:ext cx="19050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40550" y="2381250"/>
            <a:ext cx="19050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550" y="2381250"/>
            <a:ext cx="7620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51" y="2381250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9351" y="2381250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47625" y="609600"/>
            <a:ext cx="12287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Poppins"/>
              </a:rPr>
              <a:t>Real-World Unsupervised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47625" y="1333500"/>
            <a:ext cx="12287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oppins"/>
              </a:rPr>
              <a:t>Finding patterns you didn't even know existed.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092" y="3295650"/>
            <a:ext cx="3717066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oppins"/>
              </a:rPr>
              <a:t>Customer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7593" y="4114800"/>
            <a:ext cx="3540062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oppins"/>
              </a:rPr>
              <a:t>Grouping shoppers by buying habits to target marketing effectively.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7392" y="3295650"/>
            <a:ext cx="3717066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oppins"/>
              </a:rPr>
              <a:t>Recommendation 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894" y="4114800"/>
            <a:ext cx="3540062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oppins"/>
              </a:rPr>
              <a:t>Netflix discovering viewer profiles based on binge-watching history.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5692" y="3295650"/>
            <a:ext cx="3717066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oppins"/>
              </a:rPr>
              <a:t>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4194" y="3781425"/>
            <a:ext cx="35400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oppins"/>
              </a:rPr>
              <a:t>Flagging bizarre credit card transactions as potential fraud.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0" y="899219"/>
            <a:ext cx="1152525" cy="390525"/>
          </a:xfrm>
          <a:prstGeom prst="roundRect">
            <a:avLst>
              <a:gd name="adj" fmla="val 19512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3200" y="975419"/>
            <a:ext cx="9429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11D48"/>
                </a:solidFill>
                <a:latin typeface="Poppins"/>
              </a:rPr>
              <a:t>FLAVOR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18344"/>
            <a:ext cx="554069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Reinforcement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0305"/>
            <a:ext cx="57912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475569"/>
                </a:solidFill>
                <a:latin typeface="Poppins"/>
              </a:rPr>
              <a:t>Trial, error, and chasing high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63254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oppins"/>
              </a:rPr>
              <a:t>The Environment:</a:t>
            </a:r>
            <a:r>
              <a:rPr sz="1500" b="0" i="0" u="none" dirty="0">
                <a:solidFill>
                  <a:srgbClr val="0F172A"/>
                </a:solidFill>
                <a:latin typeface="Poppins"/>
              </a:rPr>
              <a:t> An active space (like a video game or factory floor).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06206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oppins"/>
              </a:rPr>
              <a:t>Action &amp; Feedback:</a:t>
            </a:r>
            <a:r>
              <a:rPr sz="1500" b="0" i="0" u="none" dirty="0">
                <a:solidFill>
                  <a:srgbClr val="0F172A"/>
                </a:solidFill>
                <a:latin typeface="Poppins"/>
              </a:rPr>
              <a:t> The agent makes a move. It gets rewarded (+1) or penalized (-1).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11081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Poppins"/>
              </a:rPr>
              <a:t>Ultimate Goal:</a:t>
            </a:r>
            <a:r>
              <a:rPr sz="1500" b="0" i="0" u="none" dirty="0">
                <a:solidFill>
                  <a:srgbClr val="0F172A"/>
                </a:solidFill>
                <a:latin typeface="Poppins"/>
              </a:rPr>
              <a:t> Maximize cumulative reward over time (winning the game).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D325F0F-B5C7-572F-4BE5-25889D941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0176"/>
            <a:ext cx="6400800" cy="34175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2952750"/>
            <a:ext cx="3098750" cy="2686050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46550" y="2952750"/>
            <a:ext cx="3098750" cy="2686050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0100" y="2952750"/>
            <a:ext cx="3098750" cy="2686050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447800" y="3257550"/>
            <a:ext cx="1057275" cy="314325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51350" y="3257550"/>
            <a:ext cx="1057275" cy="314325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54900" y="3257550"/>
            <a:ext cx="1066800" cy="314325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47625" y="609600"/>
            <a:ext cx="12287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oppins"/>
              </a:rPr>
              <a:t>Pop Quiz! Which Learning Type?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7625" y="1447800"/>
            <a:ext cx="12287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E0E7FF"/>
                </a:solidFill>
                <a:latin typeface="Poppins"/>
              </a:rPr>
              <a:t>Discuss with your group: Supervised, Unsupervised, or Reinforcement?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2100" y="3314700"/>
            <a:ext cx="9239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oppins"/>
              </a:rPr>
              <a:t>SCENARIO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3724275"/>
            <a:ext cx="258440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Poppins"/>
              </a:rPr>
              <a:t>Predicting a patient's risk of heart disease based on past medical records and outcomes.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095875"/>
            <a:ext cx="2584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 u="none" dirty="0">
                <a:solidFill>
                  <a:srgbClr val="6366F1"/>
                </a:solidFill>
                <a:latin typeface="Poppins"/>
              </a:rPr>
              <a:t>[ Answer: Supervised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650" y="3314700"/>
            <a:ext cx="9239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oppins"/>
              </a:rPr>
              <a:t>SCENARIO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1350" y="3724275"/>
            <a:ext cx="258440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Poppins"/>
              </a:rPr>
              <a:t>A robot dog teaching itself to walk by trying random leg movements and avoiding falling.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6100" y="5095875"/>
            <a:ext cx="2584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 u="none" dirty="0">
                <a:solidFill>
                  <a:srgbClr val="F43F5E"/>
                </a:solidFill>
                <a:latin typeface="Poppins"/>
              </a:rPr>
              <a:t>[ Answer: Reinforcement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9200" y="3314700"/>
            <a:ext cx="9334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oppins"/>
              </a:rPr>
              <a:t>SCENARIO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4900" y="3724275"/>
            <a:ext cx="258440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Poppins"/>
              </a:rPr>
              <a:t>An algorithm grouping millions of Spotify songs into genres based on acoustic similarities.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9650" y="5095875"/>
            <a:ext cx="2584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 u="none" dirty="0">
                <a:solidFill>
                  <a:srgbClr val="0F172A"/>
                </a:solidFill>
                <a:latin typeface="Poppins"/>
              </a:rPr>
              <a:t>[ Answer: Unsupervised 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24500" y="439102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9117" y="2409825"/>
            <a:ext cx="10113764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Poppins"/>
              </a:rPr>
              <a:t>Phase 2: Measuring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4640" y="3448050"/>
            <a:ext cx="10322718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Poppins"/>
              </a:rPr>
              <a:t>How do we know the machine is actually learning and not just guessing?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1924050"/>
            <a:ext cx="9906000" cy="685800"/>
          </a:xfrm>
          <a:prstGeom prst="roundRect">
            <a:avLst>
              <a:gd name="adj" fmla="val 16666"/>
            </a:avLst>
          </a:prstGeom>
          <a:solidFill>
            <a:srgbClr val="E0E7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3000" y="2990850"/>
            <a:ext cx="2305050" cy="325755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76650" y="2990850"/>
            <a:ext cx="2305050" cy="325755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2990850"/>
            <a:ext cx="2305050" cy="325755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43950" y="2990850"/>
            <a:ext cx="2305050" cy="325755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3000" y="2990850"/>
            <a:ext cx="2305050" cy="571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76650" y="2990850"/>
            <a:ext cx="230505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2990850"/>
            <a:ext cx="2305050" cy="57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43950" y="2990850"/>
            <a:ext cx="230505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2133600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47625" y="609600"/>
            <a:ext cx="12287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Poppins"/>
              </a:rPr>
              <a:t>Classification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47625" y="1333500"/>
            <a:ext cx="12287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oppins"/>
              </a:rPr>
              <a:t>Evaluating models that sort data into distinct categories (e.g., Malignant vs. Benign).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7437" y="2124075"/>
            <a:ext cx="80676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1B4B"/>
                </a:solidFill>
                <a:latin typeface="Poppins"/>
              </a:rPr>
              <a:t>Core Tools: </a:t>
            </a:r>
            <a:r>
              <a:rPr sz="1500" b="0" i="0" u="none">
                <a:solidFill>
                  <a:srgbClr val="1E1B4B"/>
                </a:solidFill>
                <a:latin typeface="Poppins"/>
              </a:rPr>
              <a:t>Confusion Matrices (Mapping True/False positives) &amp; ROC-AUC Curves.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3352800"/>
            <a:ext cx="2225278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oppins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3800475"/>
            <a:ext cx="17907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oppins"/>
              </a:rPr>
              <a:t>Total percentage of correct predictions overall.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1450" y="3352800"/>
            <a:ext cx="2225278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oppins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1450" y="3800475"/>
            <a:ext cx="17907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oppins"/>
              </a:rPr>
              <a:t>Of all predicted positives, how many were actually real?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352800"/>
            <a:ext cx="2225278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oppins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800475"/>
            <a:ext cx="17907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oppins"/>
              </a:rPr>
              <a:t>Of all real positives, how many did we catch? (Crucial for medicine).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0" y="3352800"/>
            <a:ext cx="2225278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oppins"/>
              </a:rPr>
              <a:t>F1-Score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0" y="3800475"/>
            <a:ext cx="17907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oppins"/>
              </a:rPr>
              <a:t>The harmonic balance bridging Precision and Recall.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2228850"/>
            <a:ext cx="3098750" cy="401955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46550" y="2228850"/>
            <a:ext cx="3098750" cy="401955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0100" y="2228850"/>
            <a:ext cx="3098750" cy="401955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262890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600" y="262890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150" y="2628900"/>
            <a:ext cx="2857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47625" y="609600"/>
            <a:ext cx="12287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Poppins"/>
              </a:rPr>
              <a:t>Regression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7625" y="1333500"/>
            <a:ext cx="12287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oppins"/>
              </a:rPr>
              <a:t>Evaluating models that predict continuous numbers (e.g., Hospital Length of Stay).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50" y="3238500"/>
            <a:ext cx="251359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oppins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3050" y="3790950"/>
            <a:ext cx="23939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oppins"/>
              </a:rPr>
              <a:t>Mean Absolute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3050" y="4162425"/>
            <a:ext cx="23939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oppins"/>
              </a:rPr>
              <a:t>The average absolute size of prediction mistakes. Easy to interpret.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6600" y="3238500"/>
            <a:ext cx="251359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oppins"/>
              </a:rPr>
              <a:t>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600" y="3790950"/>
            <a:ext cx="23939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oppins"/>
              </a:rPr>
              <a:t>Mean Squared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600" y="4162425"/>
            <a:ext cx="23939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oppins"/>
              </a:rPr>
              <a:t>Squares errors before averaging. Heavily punishes large outlier mistakes.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0150" y="3238500"/>
            <a:ext cx="251359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oppins"/>
              </a:rPr>
              <a:t>R-Squared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0150" y="3790950"/>
            <a:ext cx="23939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oppins"/>
              </a:rPr>
              <a:t>Coefficient of Determination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150" y="4419600"/>
            <a:ext cx="23939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oppins"/>
              </a:rPr>
              <a:t>Percentage of variance explained by the model. 1.0 is a perfect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29275" y="1566862"/>
            <a:ext cx="933450" cy="390525"/>
          </a:xfrm>
          <a:prstGeom prst="roundRect">
            <a:avLst>
              <a:gd name="adj" fmla="val 1951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705225" y="4500562"/>
            <a:ext cx="4781550" cy="7905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775" y="4781550"/>
            <a:ext cx="200025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50" y="4781550"/>
            <a:ext cx="20002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38800" y="1643062"/>
            <a:ext cx="914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366F1"/>
                </a:solidFill>
                <a:latin typeface="Poppins"/>
              </a:rPr>
              <a:t>PHASE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4139" y="2185987"/>
            <a:ext cx="976372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oppins"/>
              </a:rPr>
              <a:t>The Deep Learning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224212"/>
            <a:ext cx="9525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64748B"/>
                </a:solidFill>
                <a:latin typeface="Poppins"/>
              </a:rPr>
              <a:t>When data gets too complex for standard algorithms, we need stronger architectures.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9550" y="4729162"/>
            <a:ext cx="8763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oppins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9725" y="4729162"/>
            <a:ext cx="12954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oppins"/>
              </a:rPr>
              <a:t>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0" y="4729162"/>
            <a:ext cx="93345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Poppins"/>
              </a:rPr>
              <a:t>Distill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78309"/>
            <a:ext cx="1400175" cy="390525"/>
          </a:xfrm>
          <a:prstGeom prst="roundRect">
            <a:avLst>
              <a:gd name="adj" fmla="val 1951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09600"/>
            <a:ext cx="5181600" cy="5638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609600"/>
            <a:ext cx="5181600" cy="5638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2709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50339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12815"/>
            <a:ext cx="1524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4589115"/>
            <a:ext cx="17145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1554509"/>
            <a:ext cx="11906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366F1"/>
                </a:solidFill>
                <a:latin typeface="Poppins"/>
              </a:rPr>
              <a:t>STEP 01: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097434"/>
            <a:ext cx="6800850" cy="586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Neural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912715"/>
            <a:ext cx="64770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75569"/>
                </a:solidFill>
                <a:latin typeface="Poppins"/>
              </a:rPr>
              <a:t>Inspired by the human brain's biology.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627090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oppins"/>
              </a:rPr>
              <a:t>Layered Architecture: Input, hidden, and output layers passing signals.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503390"/>
            <a:ext cx="48196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oppins"/>
              </a:rPr>
              <a:t>Feature Extraction: Automatically learns complex patterns in unstructured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00650" y="609600"/>
            <a:ext cx="1790700" cy="390525"/>
          </a:xfrm>
          <a:prstGeom prst="roundRect">
            <a:avLst>
              <a:gd name="adj" fmla="val 19512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43000" y="3009900"/>
            <a:ext cx="4129087" cy="3114675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19912" y="3009900"/>
            <a:ext cx="4129087" cy="3114675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743" y="3486150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44958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756" y="3486150"/>
            <a:ext cx="5334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9212" y="685800"/>
            <a:ext cx="19335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366F1"/>
                </a:solidFill>
                <a:latin typeface="Poppins"/>
              </a:rPr>
              <a:t>STEP 02: TRANSFER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47625" y="1152525"/>
            <a:ext cx="12287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Poppins"/>
              </a:rPr>
              <a:t>Transfer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47625" y="1990725"/>
            <a:ext cx="12287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Poppins"/>
              </a:rPr>
              <a:t>Building from scratch is hard. Repurpose existing intelligence instead.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908" y="4324350"/>
            <a:ext cx="416927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Poppins"/>
              </a:rPr>
              <a:t>Pre-Trained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2176" y="4876800"/>
            <a:ext cx="3970734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oppins"/>
              </a:rPr>
              <a:t>Trained for weeks on millions of generic images (e.g., cats, cars, trees).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6887" y="4181475"/>
            <a:ext cx="11334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366F1"/>
                </a:solidFill>
                <a:latin typeface="Poppins"/>
              </a:rPr>
              <a:t>FINE-TUNING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9820" y="4324350"/>
            <a:ext cx="416927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Poppins"/>
              </a:rPr>
              <a:t>Specialized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089" y="4876800"/>
            <a:ext cx="3970734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Poppins"/>
              </a:rPr>
              <a:t>Quickly adapted to detect malignant tumors using a small medical dataset.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0" y="565844"/>
            <a:ext cx="1543050" cy="390525"/>
          </a:xfrm>
          <a:prstGeom prst="roundRect">
            <a:avLst>
              <a:gd name="adj" fmla="val 19512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3301305"/>
            <a:ext cx="5181600" cy="1381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4911030"/>
            <a:ext cx="5181600" cy="1381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3301305"/>
            <a:ext cx="57150" cy="1381125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0" y="4911030"/>
            <a:ext cx="57150" cy="1381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5181600" cy="5638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5181600" cy="563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53200" y="642044"/>
            <a:ext cx="13335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B2777"/>
                </a:solidFill>
                <a:latin typeface="Poppins"/>
              </a:rPr>
              <a:t>STEP 03: DISTILL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4969"/>
            <a:ext cx="5540692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Knowledge Distillation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86930"/>
            <a:ext cx="57912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75569"/>
                </a:solidFill>
                <a:latin typeface="Poppins"/>
              </a:rPr>
              <a:t>Passing wisdom from teacher to student.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6550" y="3529905"/>
            <a:ext cx="550545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oppins"/>
              </a:rPr>
              <a:t>The Teacher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6550" y="3939480"/>
            <a:ext cx="4762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oppins"/>
              </a:rPr>
              <a:t>Massive, highly accurate, but extremely slow and expensive to run.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5139630"/>
            <a:ext cx="550545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oppins"/>
              </a:rPr>
              <a:t>The Student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6550" y="5549205"/>
            <a:ext cx="4762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oppins"/>
              </a:rPr>
              <a:t>Compact and fast. Learns to mimic the teacher's outputs, retaining accuracy.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355502"/>
            <a:ext cx="5334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82935" y="3269902"/>
            <a:ext cx="9026128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Poppins"/>
              </a:rPr>
              <a:t>You're Now ML 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7375" y="4168973"/>
            <a:ext cx="847725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4A3B8"/>
                </a:solidFill>
                <a:latin typeface="Poppins"/>
              </a:rPr>
              <a:t>Questions? Thoughts? Let's dive into your capstone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827</Words>
  <Application>Microsoft Office PowerPoint</Application>
  <PresentationFormat>Widescreen</PresentationFormat>
  <Paragraphs>125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ayebare Vicky</cp:lastModifiedBy>
  <cp:revision>3</cp:revision>
  <dcterms:created xsi:type="dcterms:W3CDTF">2013-01-27T09:14:16Z</dcterms:created>
  <dcterms:modified xsi:type="dcterms:W3CDTF">2026-10-15T03:03:22Z</dcterms:modified>
  <cp:category/>
</cp:coreProperties>
</file>